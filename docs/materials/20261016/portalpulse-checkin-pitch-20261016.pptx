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994ed7487d47bf" /><Relationship Type="http://schemas.openxmlformats.org/officeDocument/2006/relationships/extended-properties" Target="/docProps/app.xml" Id="R8e6bc9ba6e4c4819" /><Relationship Type="http://schemas.openxmlformats.org/officeDocument/2006/relationships/officeDocument" Target="/ppt/presentation.xml" Id="R28a541d6b4d6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31ba1f4dbb4916"/>
  </p:sldMasterIdLst>
  <p:notesMasterIdLst>
    <p:notesMasterId xmlns:r="http://schemas.openxmlformats.org/officeDocument/2006/relationships" r:id="Rd1dbe42c65c74cf9"/>
  </p:notesMasterIdLst>
  <p:sldIdLst>
    <p:sldId xmlns:r="http://schemas.openxmlformats.org/officeDocument/2006/relationships" id="256" r:id="R26517ff0939d437f"/>
    <p:sldId xmlns:r="http://schemas.openxmlformats.org/officeDocument/2006/relationships" id="257" r:id="Re594738fe3a147bf"/>
    <p:sldId xmlns:r="http://schemas.openxmlformats.org/officeDocument/2006/relationships" id="258" r:id="R0e6fb17cf45f4bb4"/>
    <p:sldId xmlns:r="http://schemas.openxmlformats.org/officeDocument/2006/relationships" id="259" r:id="R459eeb2434574606"/>
    <p:sldId xmlns:r="http://schemas.openxmlformats.org/officeDocument/2006/relationships" id="260" r:id="Rdf3a0b1df8ff4a24"/>
    <p:sldId xmlns:r="http://schemas.openxmlformats.org/officeDocument/2006/relationships" id="261" r:id="R55c366bcf90245da"/>
    <p:sldId xmlns:r="http://schemas.openxmlformats.org/officeDocument/2006/relationships" id="262" r:id="Rcda73b74f40d44a2"/>
    <p:sldId xmlns:r="http://schemas.openxmlformats.org/officeDocument/2006/relationships" id="263" r:id="R7484148461c148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22e603d5a94ea4" /><Relationship Type="http://schemas.openxmlformats.org/officeDocument/2006/relationships/slideMaster" Target="/ppt/slideMasters/slideMaster1.xml" Id="Ref31ba1f4dbb4916" /><Relationship Type="http://schemas.openxmlformats.org/officeDocument/2006/relationships/notesMaster" Target="/ppt/notesMasters/notesMaster1.xml" Id="Rd1dbe42c65c74cf9" /><Relationship Type="http://schemas.openxmlformats.org/officeDocument/2006/relationships/presProps" Target="/ppt/presProps.xml" Id="R1d30f86b50a74e0d" /><Relationship Type="http://schemas.openxmlformats.org/officeDocument/2006/relationships/tableStyles" Target="/ppt/tableStyles.xml" Id="Rfd881bf50c9c4e61" /><Relationship Type="http://schemas.openxmlformats.org/officeDocument/2006/relationships/slide" Target="/ppt/slides/slide1.xml" Id="R26517ff0939d437f" /><Relationship Type="http://schemas.openxmlformats.org/officeDocument/2006/relationships/slide" Target="/ppt/slides/slide2.xml" Id="Re594738fe3a147bf" /><Relationship Type="http://schemas.openxmlformats.org/officeDocument/2006/relationships/slide" Target="/ppt/slides/slide3.xml" Id="R0e6fb17cf45f4bb4" /><Relationship Type="http://schemas.openxmlformats.org/officeDocument/2006/relationships/slide" Target="/ppt/slides/slide4.xml" Id="R459eeb2434574606" /><Relationship Type="http://schemas.openxmlformats.org/officeDocument/2006/relationships/slide" Target="/ppt/slides/slide5.xml" Id="Rdf3a0b1df8ff4a24" /><Relationship Type="http://schemas.openxmlformats.org/officeDocument/2006/relationships/slide" Target="/ppt/slides/slide6.xml" Id="R55c366bcf90245da" /><Relationship Type="http://schemas.openxmlformats.org/officeDocument/2006/relationships/slide" Target="/ppt/slides/slide7.xml" Id="Rcda73b74f40d44a2" /><Relationship Type="http://schemas.openxmlformats.org/officeDocument/2006/relationships/slide" Target="/ppt/slides/slide8.xml" Id="R7484148461c1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00bf64631c49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22ddfc3a9640f8" /><Relationship Type="http://schemas.openxmlformats.org/officeDocument/2006/relationships/notesMaster" Target="/ppt/notesMasters/notesMaster1.xml" Id="R36a52edcb8a34c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14fc3ff95a4183" /><Relationship Type="http://schemas.openxmlformats.org/officeDocument/2006/relationships/notesMaster" Target="/ppt/notesMasters/notesMaster1.xml" Id="Rccd179889ee742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8af9ad576d4681" /><Relationship Type="http://schemas.openxmlformats.org/officeDocument/2006/relationships/notesMaster" Target="/ppt/notesMasters/notesMaster1.xml" Id="R928f6995c2c643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ee78294e234db4" /><Relationship Type="http://schemas.openxmlformats.org/officeDocument/2006/relationships/notesMaster" Target="/ppt/notesMasters/notesMaster1.xml" Id="Rc516a431c0a644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25b2c207c34228" /><Relationship Type="http://schemas.openxmlformats.org/officeDocument/2006/relationships/notesMaster" Target="/ppt/notesMasters/notesMaster1.xml" Id="R09f2a4b5125b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32332dff9a4ea7" /><Relationship Type="http://schemas.openxmlformats.org/officeDocument/2006/relationships/notesMaster" Target="/ppt/notesMasters/notesMaster1.xml" Id="R6f0d35be9fa74d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553e18e6344eda" /><Relationship Type="http://schemas.openxmlformats.org/officeDocument/2006/relationships/notesMaster" Target="/ppt/notesMasters/notesMaster1.xml" Id="Rdd16b6860fba49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2f9ec28bd340ea" /><Relationship Type="http://schemas.openxmlformats.org/officeDocument/2006/relationships/notesMaster" Target="/ppt/notesMasters/notesMaster1.xml" Id="Ra1cbc059aecf46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PortalPulse 面向节点运营者和 DApp 开发者。当前展示公开只读与离线原型，所有样例明确标为合成。尚无主办方认可的 V3 部署或真实状态回读。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https://dorahacks.io/hackathon/portaldot-hacker-house-2026/detail</a:t>
            </a:r>
          </a:p>
          <a:p xmlns:a="http://schemas.openxmlformats.org/drawingml/2006/main">
            <a:r>
              <a:t>https://github.com/JokerFuFu/portaldot-hacker-house-2026-portalpulse/tree/33919c5472974a7d7709b0b116a7bd888f27203b</a:t>
            </a:r>
          </a:p>
          <a:p xmlns:a="http://schemas.openxmlformats.org/drawingml/2006/main">
            <a:r>
              <a:t>https://portalpulse-jokerfufu-2026-readonly.jokerfu.chatgpt.site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RPC 返回成功只回答部分问题。将网络身份、推进、精确交易执行、最终确认及同 caller/contract 状态回读分别呈现，避免一个总绿灯掩盖缺证。这些是项目设计中的目标用户问题，不代表经过外部用户访谈验证。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https://github.com/JokerFuFu/portaldot-hacker-house-2026-portalpulse/tree/33919c5472974a7d7709b0b116a7bd888f27203b/docs/design.md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这是当前公开网页的真实初始截图，未连接且无观测。截图不是实链运行证明。演示中可主动加载模拟会话，或在核实可信配置后手动启动只读观测。原始时间与来源会保留。Image: PortalPulse public Site native screenshot, 2026-10-16, initial unconnected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https://portalpulse-jokerfufu-2026-readonly.jokerfu.chatgpt.site</a:t>
            </a:r>
          </a:p>
          <a:p xmlns:a="http://schemas.openxmlformats.org/drawingml/2006/main">
            <a:r>
              <a:t>https://github.com/JokerFuFu/portaldot-hacker-house-2026-portalpulse/tree/33919c5472974a7d7709b0b116a7bd888f27203b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 UI 截图显示合成离线执行样例。六阶段为网络身份、提交、纳入、执行、最终确认祖先链及状态回读。所有事实一致仍只表示输入内部一致，三个验证/写入标志保持 false。SHA-256 只检查内容完整性，不证明来源真实性、当前在线、共识或 V3 执行。Image: actual public Site release 3 browser screenshot, 2026-10-16, synthetic complete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https://portalpulse-jokerfufu-2026-readonly.jokerfu.chatgpt.site</a:t>
            </a:r>
          </a:p>
          <a:p xmlns:a="http://schemas.openxmlformats.org/drawingml/2006/main">
            <a:r>
              <a:t>https://github.com/JokerFuFu/portaldot-hacker-house-2026-portalpulse/tree/33919c5472974a7d7709b0b116a7bd888f27203b/docs/execution.md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该技术架构图为原生可编辑对象。当前网页/CLI、只读网络适配器、离线执行核验器及统一版本化报告已经实现。虚线部分表示待完成的认可 V3 网络、真实执行采集及探针写入。用户钱包确认签名，应用不读取私钥。演示样例与导入事实不会被自动升级为可信实链记录。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https://github.com/JokerFuFu/portaldot-hacker-house-2026-portalpulse/tree/33919c5472974a7d7709b0b116a7bd888f27203b/docs/design.md</a:t>
            </a:r>
          </a:p>
          <a:p xmlns:a="http://schemas.openxmlformats.org/drawingml/2006/main">
            <a:r>
              <a:t>https://github.com/JokerFuFu/portaldot-hacker-house-2026-portalpulse/tree/33919c5472974a7d7709b0b116a7bd888f27203b/docs/execution.md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当前公开原型可使用，但不存在认可 V3 合约地址、部署交易或真实状态回读。界面所有执行复核保持 offline，verifiedNetwork/writeAllowed/fullVerification=false。当前版本已完成真实浏览器报告打印验收。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https://portalpulse-jokerfufu-2026-readonly.jokerfu.chatgpt.site</a:t>
            </a:r>
          </a:p>
          <a:p xmlns:a="http://schemas.openxmlformats.org/drawingml/2006/main">
            <a:r>
              <a:t>https://github.com/JokerFuFu/portaldot-hacker-house-2026-portalpulse/tree/33919c5472974a7d7709b0b116a7bd888f27203b</a:t>
            </a:r>
          </a:p>
          <a:p xmlns:a="http://schemas.openxmlformats.org/drawingml/2006/main">
            <a:r>
              <a:t>https://discord.com/channels/1440212664751099996/1497976354157887680/1560475616669601833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部署前必须核实主办方认可的新配置、实际创世哈希/运行时、映射与余额，不能依赖失效的历史 RPC。Solidity/Revive 来源于固定历史指南，仅为候选路径。现有 PDK/FailLens 已覆盖基础诊断，本项目聚焦持续观察和执行至回读记录。Check-in 内部目标10月23日20:00，官方记录截止10月24日20:00；11月4日核心版本、11月6日12:00前最终提交回读为内部交付目标。所有时间北京时间。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https://dorahacks.io/hackathon/portaldot-hacker-house-2026/detail</a:t>
            </a:r>
          </a:p>
          <a:p xmlns:a="http://schemas.openxmlformats.org/drawingml/2006/main">
            <a:r>
              <a:t>https://github.com/ItsCogumellum/portaldot-v3-testnet-guide/tree/d671a32758573f4d9ab00d891b2dd6a48f36bcbb</a:t>
            </a:r>
          </a:p>
          <a:p xmlns:a="http://schemas.openxmlformats.org/drawingml/2006/main">
            <a:r>
              <a:t>https://portaldot-pdk.vercel.app/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商业方向是待验证假设，包括托管监测、历史留存和团队运行报告。目前没有已验证的客户、收入或价格数据。下一步通过真实测试网使用记录与用户访谈决定是否产品化。项目还未完成 Check-in，不能保证获奖或未来资金支持。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https://github.com/JokerFuFu/portaldot-hacker-house-2026-portalpulse/tree/33919c5472974a7d7709b0b116a7bd888f27203b/docs/design.md</a:t>
            </a:r>
          </a:p>
          <a:p xmlns:a="http://schemas.openxmlformats.org/drawingml/2006/main">
            <a:r>
              <a:t>https://portalpulse-jokerfufu-2026-readonly.jokerfu.chatgpt.site</a:t>
            </a:r>
          </a:p>
          <a:p xmlns:a="http://schemas.openxmlformats.org/drawingml/2006/main">
            <a:r>
              <a:t>https://github.com/JokerFuFu/portaldot-hacker-house-2026-portalpulse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23005e58243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68ecac4d84e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6ff075ad34e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6df3af4904b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061ca89b246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d1e4eee7547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B26292-651F-44F4-90E1-D524CF96E4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6C92AA-4C2E-463D-A49B-298FFFA891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20EF8A-5291-4026-9142-9086D81BE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86A3D1-4918-41CA-AF6C-9234F6174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BE86A6-0DD2-4F9F-8711-E6F6F4884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1347C3-5A6C-4530-B727-CF03AC7FCB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407567-37A9-4F84-8740-80E46DA470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DF5A7E-B2A4-4950-BE5B-64E005D389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3DF2C8-FD9B-431B-B5F0-DFBAA9CB5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78DAEF-711A-453B-B9D7-77987AF7E4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6bf13136274d21" /><Relationship Type="http://schemas.openxmlformats.org/officeDocument/2006/relationships/slideLayout" Target="/ppt/slideLayouts/slideLayout1.xml" Id="R96d5aec105d44133" /><Relationship Type="http://schemas.openxmlformats.org/officeDocument/2006/relationships/slideLayout" Target="/ppt/slideLayouts/slideLayout2.xml" Id="R5a901437fa524519" /><Relationship Type="http://schemas.openxmlformats.org/officeDocument/2006/relationships/slideLayout" Target="/ppt/slideLayouts/slideLayout3.xml" Id="Rae954220e41c4d14" /><Relationship Type="http://schemas.openxmlformats.org/officeDocument/2006/relationships/slideLayout" Target="/ppt/slideLayouts/slideLayout4.xml" Id="R95e81896ce7b4105" /><Relationship Type="http://schemas.openxmlformats.org/officeDocument/2006/relationships/slideLayout" Target="/ppt/slideLayouts/slideLayout5.xml" Id="R5a7d44e0cd2c4674" /><Relationship Type="http://schemas.openxmlformats.org/officeDocument/2006/relationships/slideLayout" Target="/ppt/slideLayouts/slideLayout6.xml" Id="Rcf4b5f5bb93e42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d5aec105d44133"/>
    <p:sldLayoutId xmlns:r="http://schemas.openxmlformats.org/officeDocument/2006/relationships" id="2147483650" r:id="R5a901437fa524519"/>
    <p:sldLayoutId xmlns:r="http://schemas.openxmlformats.org/officeDocument/2006/relationships" id="2147483651" r:id="Rae954220e41c4d14"/>
    <p:sldLayoutId xmlns:r="http://schemas.openxmlformats.org/officeDocument/2006/relationships" id="2147483652" r:id="R95e81896ce7b4105"/>
    <p:sldLayoutId xmlns:r="http://schemas.openxmlformats.org/officeDocument/2006/relationships" id="2147483653" r:id="R5a7d44e0cd2c4674"/>
    <p:sldLayoutId xmlns:r="http://schemas.openxmlformats.org/officeDocument/2006/relationships" id="2147483654" r:id="Rcf4b5f5bb93e42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be1ef3efe43c2" /><Relationship Type="http://schemas.openxmlformats.org/officeDocument/2006/relationships/notesSlide" Target="/ppt/notesSlides/notesSlide1.xml" Id="R9e86ca7cbff443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ca7a85eba4e17" /><Relationship Type="http://schemas.openxmlformats.org/officeDocument/2006/relationships/notesSlide" Target="/ppt/notesSlides/notesSlide2.xml" Id="R96d61a3ba9da42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afb4d2ad24d50" /><Relationship Type="http://schemas.openxmlformats.org/officeDocument/2006/relationships/image" Target="/ppt/media/image.jpeg" Id="R023fe5ccdc654a22" /><Relationship Type="http://schemas.openxmlformats.org/officeDocument/2006/relationships/notesSlide" Target="/ppt/notesSlides/notesSlide3.xml" Id="R925fd2066cdc4f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068763a7548f0" /><Relationship Type="http://schemas.openxmlformats.org/officeDocument/2006/relationships/image" Target="/ppt/media/image.png" Id="Rae028173349f4071" /><Relationship Type="http://schemas.openxmlformats.org/officeDocument/2006/relationships/notesSlide" Target="/ppt/notesSlides/notesSlide4.xml" Id="Rae99afe5b94c44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8a31f8e4d4c5f" /><Relationship Type="http://schemas.openxmlformats.org/officeDocument/2006/relationships/notesSlide" Target="/ppt/notesSlides/notesSlide5.xml" Id="Rcdab8ba362c841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b4fc1fa7b48ae" /><Relationship Type="http://schemas.openxmlformats.org/officeDocument/2006/relationships/notesSlide" Target="/ppt/notesSlides/notesSlide6.xml" Id="R9a768eb2a5d34e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cb987a6824945" /><Relationship Type="http://schemas.openxmlformats.org/officeDocument/2006/relationships/notesSlide" Target="/ppt/notesSlides/notesSlide7.xml" Id="R34cb06eda63345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6d38a0ba24d52" /><Relationship Type="http://schemas.openxmlformats.org/officeDocument/2006/relationships/notesSlide" Target="/ppt/notesSlides/notesSlide8.xml" Id="R4e0bce1bb30248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  PortalPulse">
            <a:extLst xmlns:a="http://schemas.openxmlformats.org/drawingml/2006/main">
              <a:ext uri="{FF2B5EF4-FFF2-40B4-BE49-F238E27FC236}">
                <a16:creationId xmlns:a16="http://schemas.microsoft.com/office/drawing/2014/main" id="{83B1B671-353E-4A2F-8E80-66508E2C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01  PortalPulse</a:t>
            </a:r>
          </a:p>
        </p:txBody>
      </p:sp>
      <p:sp>
        <p:nvSpPr>
          <p:cNvPr id="2" name="PortalPulse">
            <a:extLst xmlns:a="http://schemas.openxmlformats.org/drawingml/2006/main">
              <a:ext uri="{FF2B5EF4-FFF2-40B4-BE49-F238E27FC236}">
                <a16:creationId xmlns:a16="http://schemas.microsoft.com/office/drawing/2014/main" id="{998D15BD-52A4-43B1-A00A-508357AD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PortalPulse</a:t>
            </a:r>
          </a:p>
        </p:txBody>
      </p:sp>
      <p:sp>
        <p:nvSpPr>
          <p:cNvPr id="3" name="Network progress and execution evidence">
            <a:extLst xmlns:a="http://schemas.openxmlformats.org/drawingml/2006/main">
              <a:ext uri="{FF2B5EF4-FFF2-40B4-BE49-F238E27FC236}">
                <a16:creationId xmlns:a16="http://schemas.microsoft.com/office/drawing/2014/main" id="{6397C2AA-9FBA-41DA-A6D5-10DFB6EC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43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64EAC"/>
                </a:solidFill>
                <a:latin typeface="Arial"/>
                <a:ea typeface="Arial"/>
                <a:cs typeface="Arial"/>
              </a:rPr>
              <a:t>Network progress and execution evidence</a:t>
            </a:r>
          </a:p>
        </p:txBody>
      </p:sp>
      <p:sp>
        <p:nvSpPr>
          <p:cNvPr id="4" name="Portaldot Hacker House 2026&#10;Node Operations &amp; Tooling">
            <a:extLst xmlns:a="http://schemas.openxmlformats.org/drawingml/2006/main">
              <a:ext uri="{FF2B5EF4-FFF2-40B4-BE49-F238E27FC236}">
                <a16:creationId xmlns:a16="http://schemas.microsoft.com/office/drawing/2014/main" id="{8699BEC2-7788-4A95-865B-1AC46D32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29050"/>
            <a:ext cx="1000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Portaldot Hacker House 2026</a:t>
            </a:r>
          </a:p>
          <a:p xmlns:a="http://schemas.openxmlformats.org/drawingml/2006/main">
            <a:pPr>
              <a:defRPr sz="2100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Node Operations &amp; Tooling</a:t>
            </a:r>
          </a:p>
        </p:txBody>
      </p:sp>
      <p:sp>
        <p:nvSpPr>
          <p:cNvPr id="5" name="Readonly and offline prototype&#10;Synthetic demonstration.">
            <a:extLst xmlns:a="http://schemas.openxmlformats.org/drawingml/2006/main">
              <a:ext uri="{FF2B5EF4-FFF2-40B4-BE49-F238E27FC236}">
                <a16:creationId xmlns:a16="http://schemas.microsoft.com/office/drawing/2014/main" id="{81C1B0E3-A404-49A7-A25B-CBCF5FB0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578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Readonly and offline prototype</a:t>
            </a:r>
          </a:p>
          <a:p xmlns:a="http://schemas.openxmlformats.org/drawingml/2006/main">
            <a: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Synthetic demonstration. Recognized V3 deployment pending.</a:t>
            </a:r>
          </a:p>
        </p:txBody>
      </p:sp>
    </p:spTree>
    <p:extLst>
      <p:ext uri="{BB962C8B-B14F-4D97-AF65-F5344CB8AC3E}">
        <p14:creationId xmlns:p14="http://schemas.microsoft.com/office/powerpoint/2010/main" val="867399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perational questions">
            <a:extLst xmlns:a="http://schemas.openxmlformats.org/drawingml/2006/main">
              <a:ext uri="{FF2B5EF4-FFF2-40B4-BE49-F238E27FC236}">
                <a16:creationId xmlns:a16="http://schemas.microsoft.com/office/drawing/2014/main" id="{302FA7D8-3ECA-437B-B18E-AB2D2340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Operational questions</a:t>
            </a:r>
          </a:p>
        </p:txBody>
      </p:sp>
      <p:sp>
        <p:nvSpPr>
          <p:cNvPr id="2" name="02  PortalPulse">
            <a:extLst xmlns:a="http://schemas.openxmlformats.org/drawingml/2006/main">
              <a:ext uri="{FF2B5EF4-FFF2-40B4-BE49-F238E27FC236}">
                <a16:creationId xmlns:a16="http://schemas.microsoft.com/office/drawing/2014/main" id="{B633E098-222C-4288-8341-F1EFAF23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02  PortalPulse</a:t>
            </a:r>
          </a:p>
        </p:txBody>
      </p:sp>
      <p:sp>
        <p:nvSpPr>
          <p:cNvPr id="3" name="Node operators">
            <a:extLst xmlns:a="http://schemas.openxmlformats.org/drawingml/2006/main">
              <a:ext uri="{FF2B5EF4-FFF2-40B4-BE49-F238E27FC236}">
                <a16:creationId xmlns:a16="http://schemas.microsoft.com/office/drawing/2014/main" id="{7C041158-A738-42DA-A918-918E4148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Node operators</a:t>
            </a:r>
          </a:p>
        </p:txBody>
      </p:sp>
      <p:sp>
        <p:nvSpPr>
          <p:cNvPr id="4" name="Is this the expected network?&#10;Are best and finalized bl">
            <a:extLst xmlns:a="http://schemas.openxmlformats.org/drawingml/2006/main">
              <a:ext uri="{FF2B5EF4-FFF2-40B4-BE49-F238E27FC236}">
                <a16:creationId xmlns:a16="http://schemas.microsoft.com/office/drawing/2014/main" id="{4F0D193D-9246-446D-AC9C-55C351AD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95875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Is this the expected network?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Are best and finalized blocks advancing?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How old is the latest observation?</a:t>
            </a:r>
          </a:p>
        </p:txBody>
      </p:sp>
      <p:sp>
        <p:nvSpPr>
          <p:cNvPr id="5" name="DApp developers">
            <a:extLst xmlns:a="http://schemas.openxmlformats.org/drawingml/2006/main">
              <a:ext uri="{FF2B5EF4-FFF2-40B4-BE49-F238E27FC236}">
                <a16:creationId xmlns:a16="http://schemas.microsoft.com/office/drawing/2014/main" id="{A4A4CD39-84B9-4A2D-93D9-5F44E348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DApp developers</a:t>
            </a:r>
          </a:p>
        </p:txBody>
      </p:sp>
      <p:sp>
        <p:nvSpPr>
          <p:cNvPr id="6" name="Did this exact transaction execute?&#10;Has it reached fina">
            <a:extLst xmlns:a="http://schemas.openxmlformats.org/drawingml/2006/main">
              <a:ext uri="{FF2B5EF4-FFF2-40B4-BE49-F238E27FC236}">
                <a16:creationId xmlns:a16="http://schemas.microsoft.com/office/drawing/2014/main" id="{BE36D6C7-0311-45A6-BD28-5ED9BA77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5095875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Did this exact transaction execute?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Has it reached finality?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Does this caller’s stored state match?</a:t>
            </a:r>
          </a:p>
        </p:txBody>
      </p:sp>
      <p:sp>
        <p:nvSpPr>
          <p:cNvPr id="7" name="PortalPulse keeps each stage and its evidence visible.">
            <a:extLst xmlns:a="http://schemas.openxmlformats.org/drawingml/2006/main">
              <a:ext uri="{FF2B5EF4-FFF2-40B4-BE49-F238E27FC236}">
                <a16:creationId xmlns:a16="http://schemas.microsoft.com/office/drawing/2014/main" id="{A5F0B850-CD39-4723-9D2A-7BD73626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PortalPulse keeps each stage and its evidence visible.</a:t>
            </a:r>
          </a:p>
        </p:txBody>
      </p:sp>
    </p:spTree>
    <p:extLst>
      <p:ext uri="{BB962C8B-B14F-4D97-AF65-F5344CB8AC3E}">
        <p14:creationId xmlns:p14="http://schemas.microsoft.com/office/powerpoint/2010/main" val="1104690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etwork observation">
            <a:extLst xmlns:a="http://schemas.openxmlformats.org/drawingml/2006/main">
              <a:ext uri="{FF2B5EF4-FFF2-40B4-BE49-F238E27FC236}">
                <a16:creationId xmlns:a16="http://schemas.microsoft.com/office/drawing/2014/main" id="{AECA15AE-CD61-48E7-86B0-4B7EDA9E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Network observation</a:t>
            </a:r>
          </a:p>
        </p:txBody>
      </p:sp>
      <p:sp>
        <p:nvSpPr>
          <p:cNvPr id="2" name="03  PortalPulse">
            <a:extLst xmlns:a="http://schemas.openxmlformats.org/drawingml/2006/main">
              <a:ext uri="{FF2B5EF4-FFF2-40B4-BE49-F238E27FC236}">
                <a16:creationId xmlns:a16="http://schemas.microsoft.com/office/drawing/2014/main" id="{D8DFE7E8-4697-4144-BCC6-63FEE808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03  PortalPulse</a:t>
            </a:r>
          </a:p>
        </p:txBody>
      </p:sp>
      <p:sp>
        <p:nvSpPr>
          <p:cNvPr id="3" name="1  Start with no default endpoint">
            <a:extLst xmlns:a="http://schemas.openxmlformats.org/drawingml/2006/main">
              <a:ext uri="{FF2B5EF4-FFF2-40B4-BE49-F238E27FC236}">
                <a16:creationId xmlns:a16="http://schemas.microsoft.com/office/drawing/2014/main" id="{6F9B2691-2A8E-4C9A-B070-1D8EE815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390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1  Start with no default endpoint</a:t>
            </a:r>
          </a:p>
        </p:txBody>
      </p:sp>
      <p:sp>
        <p:nvSpPr>
          <p:cNvPr id="4" name="2  Load the explicit simulated sample&#10;&#10;3  Inspect ident">
            <a:extLst xmlns:a="http://schemas.openxmlformats.org/drawingml/2006/main">
              <a:ext uri="{FF2B5EF4-FFF2-40B4-BE49-F238E27FC236}">
                <a16:creationId xmlns:a16="http://schemas.microsoft.com/office/drawing/2014/main" id="{478ED70D-FAD5-44BC-BB37-4F70197B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2  Load the explicit simulated sample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3  Inspect identity, block progress and collection times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4  Export or import a bounded report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C18AB-B244-488D-864F-956170903A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fe5ccdc654a22"/>
          <a:stretch xmlns:a="http://schemas.openxmlformats.org/drawingml/2006/main"/>
        </p:blipFill>
        <p:spPr>
          <a:xfrm xmlns:a="http://schemas.openxmlformats.org/drawingml/2006/main">
            <a:off x="4857750" y="1699022"/>
            <a:ext cx="6724650" cy="4202906"/>
          </a:xfrm>
          <a:prstGeom xmlns:a="http://schemas.openxmlformats.org/drawingml/2006/main" prst="rect">
            <a:avLst/>
          </a:prstGeom>
        </p:spPr>
      </p:pic>
      <p:sp>
        <p:nvSpPr>
          <p:cNvPr id="6" name="Actual initial view. No live connection or observations">
            <a:extLst xmlns:a="http://schemas.openxmlformats.org/drawingml/2006/main">
              <a:ext uri="{FF2B5EF4-FFF2-40B4-BE49-F238E27FC236}">
                <a16:creationId xmlns:a16="http://schemas.microsoft.com/office/drawing/2014/main" id="{5085CC2F-CDE5-4DCF-8129-24704E5E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00750"/>
            <a:ext cx="672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Actual initial view. No live connection or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52317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ffline execution review">
            <a:extLst xmlns:a="http://schemas.openxmlformats.org/drawingml/2006/main">
              <a:ext uri="{FF2B5EF4-FFF2-40B4-BE49-F238E27FC236}">
                <a16:creationId xmlns:a16="http://schemas.microsoft.com/office/drawing/2014/main" id="{874F18C4-EABF-44B4-83DE-1DB356A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Offline execution review</a:t>
            </a:r>
          </a:p>
        </p:txBody>
      </p:sp>
      <p:sp>
        <p:nvSpPr>
          <p:cNvPr id="2" name="04  PortalPulse">
            <a:extLst xmlns:a="http://schemas.openxmlformats.org/drawingml/2006/main">
              <a:ext uri="{FF2B5EF4-FFF2-40B4-BE49-F238E27FC236}">
                <a16:creationId xmlns:a16="http://schemas.microsoft.com/office/drawing/2014/main" id="{488F7D19-7936-4180-9740-10A5AADF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04  PortalPulse</a:t>
            </a:r>
          </a:p>
        </p:txBody>
      </p:sp>
      <p:sp>
        <p:nvSpPr>
          <p:cNvPr id="3" name="Six stages of supplied evidence">
            <a:extLst xmlns:a="http://schemas.openxmlformats.org/drawingml/2006/main">
              <a:ext uri="{FF2B5EF4-FFF2-40B4-BE49-F238E27FC236}">
                <a16:creationId xmlns:a16="http://schemas.microsoft.com/office/drawing/2014/main" id="{2FAFDF18-6FC6-43E2-B302-13B7F64F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Six stages of supplied evidence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8164E-C7C2-45D4-A8DA-52C0C94D2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28173349f4071"/>
          <a:stretch xmlns:a="http://schemas.openxmlformats.org/drawingml/2006/main"/>
        </p:blipFill>
        <p:spPr>
          <a:xfrm xmlns:a="http://schemas.openxmlformats.org/drawingml/2006/main">
            <a:off x="612906" y="2257425"/>
            <a:ext cx="7356214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Import raw facts or a report&#10;&#10;Compare exact transaction">
            <a:extLst xmlns:a="http://schemas.openxmlformats.org/drawingml/2006/main">
              <a:ext uri="{FF2B5EF4-FFF2-40B4-BE49-F238E27FC236}">
                <a16:creationId xmlns:a16="http://schemas.microsoft.com/office/drawing/2014/main" id="{F617410F-C05A-47FD-8D57-3273AE94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327660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Import raw facts or a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Compare exact transaction, finality ancestry and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Export and re-import with a SHA-256 check</a:t>
            </a:r>
          </a:p>
        </p:txBody>
      </p:sp>
      <p:sp>
        <p:nvSpPr>
          <p:cNvPr id="6" name="Missing facts stay unverified.&#10;Failures stay abnormal.">
            <a:extLst xmlns:a="http://schemas.openxmlformats.org/drawingml/2006/main">
              <a:ext uri="{FF2B5EF4-FFF2-40B4-BE49-F238E27FC236}">
                <a16:creationId xmlns:a16="http://schemas.microsoft.com/office/drawing/2014/main" id="{77693A71-9869-4136-B397-53FF02AD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38750"/>
            <a:ext cx="3276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Missing facts stay unverified.</a:t>
            </a:r>
          </a:p>
          <a:p xmlns:a="http://schemas.openxmlformats.org/drawingml/2006/main">
            <a:pPr>
              <a:defRPr sz="1950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Failures stay abnormal.</a:t>
            </a:r>
          </a:p>
        </p:txBody>
      </p:sp>
    </p:spTree>
    <p:extLst>
      <p:ext uri="{BB962C8B-B14F-4D97-AF65-F5344CB8AC3E}">
        <p14:creationId xmlns:p14="http://schemas.microsoft.com/office/powerpoint/2010/main" val="642437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F9CBC-B910-4E71-B41B-6513C21E0753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6467475" y="5672138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6C"/>
            </a:solidFill>
            <a:prstDash val="dash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D40B8-D5EA-4C32-900F-DAF00C68815B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5105400" y="45720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26C"/>
            </a:solidFill>
            <a:prstDash val="dash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93AAF-4237-4EB6-9863-6C452484796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6467475" y="3414713"/>
            <a:ext cx="80010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4EAC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59BF1-8A82-4D94-80E4-4087CF11971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467475" y="2624138"/>
            <a:ext cx="800100" cy="790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4EAC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2C82B-8037-41F9-888E-6DA20AFD167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43225" y="2900363"/>
            <a:ext cx="80010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4EAC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34BCB-E9E2-4D04-96B1-20C6E6AB01A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943225" y="2624138"/>
            <a:ext cx="800100" cy="276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4EAC"/>
            </a:solidFill>
            <a:prstDash val="solid"/>
            <a:tailEnd type="triangle" w="sm" len="sm"/>
          </a:ln>
        </p:spPr>
      </p:cxnSp>
      <p:sp>
        <p:nvSpPr>
          <p:cNvPr id="16" name="Shared evidence architecture">
            <a:extLst xmlns:a="http://schemas.openxmlformats.org/drawingml/2006/main">
              <a:ext uri="{FF2B5EF4-FFF2-40B4-BE49-F238E27FC236}">
                <a16:creationId xmlns:a16="http://schemas.microsoft.com/office/drawing/2014/main" id="{169662CF-FB24-4DFB-A763-E4CE8896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Shared evidence architecture</a:t>
            </a:r>
          </a:p>
        </p:txBody>
      </p:sp>
      <p:sp>
        <p:nvSpPr>
          <p:cNvPr id="2" name="05  PortalPulse">
            <a:extLst xmlns:a="http://schemas.openxmlformats.org/drawingml/2006/main">
              <a:ext uri="{FF2B5EF4-FFF2-40B4-BE49-F238E27FC236}">
                <a16:creationId xmlns:a16="http://schemas.microsoft.com/office/drawing/2014/main" id="{382AEA32-3952-49FB-80B1-CB869DAF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05  PortalPulse</a:t>
            </a:r>
          </a:p>
        </p:txBody>
      </p:sp>
      <p:sp>
        <p:nvSpPr>
          <p:cNvPr id="3" name="Solid: current prototype     Dashed: pending recognized">
            <a:extLst xmlns:a="http://schemas.openxmlformats.org/drawingml/2006/main">
              <a:ext uri="{FF2B5EF4-FFF2-40B4-BE49-F238E27FC236}">
                <a16:creationId xmlns:a16="http://schemas.microsoft.com/office/drawing/2014/main" id="{5B543596-EFBF-4611-A631-893859A3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Solid: current prototype     Dashed: pending recognized V3 integration</a:t>
            </a:r>
          </a:p>
        </p:txBody>
      </p:sp>
      <p:sp>
        <p:nvSpPr>
          <p:cNvPr id="4" name="Web console&#10;and local CLI">
            <a:extLst xmlns:a="http://schemas.openxmlformats.org/drawingml/2006/main">
              <a:ext uri="{FF2B5EF4-FFF2-40B4-BE49-F238E27FC236}">
                <a16:creationId xmlns:a16="http://schemas.microsoft.com/office/drawing/2014/main" id="{20EEEED0-CA88-4F6D-B175-FF1B21B7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23336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164EAC"/>
            </a:solidFill>
            <a:prstDash val="solid"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Web console</a:t>
            </a:r>
          </a:p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and local CLI</a:t>
            </a:r>
          </a:p>
        </p:txBody>
      </p:sp>
      <p:sp>
        <p:nvSpPr>
          <p:cNvPr id="5" name="Readonly&#10;network adapter">
            <a:extLst xmlns:a="http://schemas.openxmlformats.org/drawingml/2006/main">
              <a:ext uri="{FF2B5EF4-FFF2-40B4-BE49-F238E27FC236}">
                <a16:creationId xmlns:a16="http://schemas.microsoft.com/office/drawing/2014/main" id="{A7C43D36-C70A-4D74-B43B-B70C1ECF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43125"/>
            <a:ext cx="27241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164EAC"/>
            </a:solidFill>
            <a:prstDash val="solid"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Readonly</a:t>
            </a:r>
          </a:p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network adapter</a:t>
            </a:r>
          </a:p>
        </p:txBody>
      </p:sp>
      <p:sp>
        <p:nvSpPr>
          <p:cNvPr id="6" name="Offline execution&#10;evidence evaluator">
            <a:extLst xmlns:a="http://schemas.openxmlformats.org/drawingml/2006/main">
              <a:ext uri="{FF2B5EF4-FFF2-40B4-BE49-F238E27FC236}">
                <a16:creationId xmlns:a16="http://schemas.microsoft.com/office/drawing/2014/main" id="{23DF466F-A9B9-4FC7-AC33-DBDF8B0E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609975"/>
            <a:ext cx="27241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164EAC"/>
            </a:solidFill>
            <a:prstDash val="solid"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Offline execution</a:t>
            </a:r>
          </a:p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evidence evaluator</a:t>
            </a:r>
          </a:p>
        </p:txBody>
      </p:sp>
      <p:sp>
        <p:nvSpPr>
          <p:cNvPr id="7" name="Normalized records&#10;and versioned reports">
            <a:extLst xmlns:a="http://schemas.openxmlformats.org/drawingml/2006/main">
              <a:ext uri="{FF2B5EF4-FFF2-40B4-BE49-F238E27FC236}">
                <a16:creationId xmlns:a16="http://schemas.microsoft.com/office/drawing/2014/main" id="{4642284E-3A66-4A5A-B2DA-F38CD3FC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67025"/>
            <a:ext cx="43148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164EAC"/>
            </a:solidFill>
            <a:prstDash val="solid"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Normalized records</a:t>
            </a:r>
          </a:p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and versioned reports</a:t>
            </a:r>
          </a:p>
        </p:txBody>
      </p:sp>
      <p:sp>
        <p:nvSpPr>
          <p:cNvPr id="12" name="Recognized V3&#10;and live collector">
            <a:extLst xmlns:a="http://schemas.openxmlformats.org/drawingml/2006/main">
              <a:ext uri="{FF2B5EF4-FFF2-40B4-BE49-F238E27FC236}">
                <a16:creationId xmlns:a16="http://schemas.microsoft.com/office/drawing/2014/main" id="{43459D14-8BC3-4C03-BC55-1CCCE79F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19700"/>
            <a:ext cx="2724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52626C"/>
            </a:solidFill>
            <a:prstDash val="dash"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Recognized V3</a:t>
            </a:r>
          </a:p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and live collector</a:t>
            </a:r>
          </a:p>
        </p:txBody>
      </p:sp>
      <p:sp>
        <p:nvSpPr>
          <p:cNvPr id="13" name="Probe contract&#10;User wallet confirms writes">
            <a:extLst xmlns:a="http://schemas.openxmlformats.org/drawingml/2006/main">
              <a:ext uri="{FF2B5EF4-FFF2-40B4-BE49-F238E27FC236}">
                <a16:creationId xmlns:a16="http://schemas.microsoft.com/office/drawing/2014/main" id="{A264462C-E8E1-4E3F-9A47-728CD3AB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19700"/>
            <a:ext cx="45815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52626C"/>
            </a:solidFill>
            <a:prstDash val="dash"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Probe contract</a:t>
            </a:r>
          </a:p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User wallet confirms writes</a:t>
            </a:r>
          </a:p>
        </p:txBody>
      </p:sp>
    </p:spTree>
    <p:extLst>
      <p:ext uri="{BB962C8B-B14F-4D97-AF65-F5344CB8AC3E}">
        <p14:creationId xmlns:p14="http://schemas.microsoft.com/office/powerpoint/2010/main" val="571984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urrent delivery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6BFA3E90-63CB-46C9-ACAE-05B26C4D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Current delivery and evidence limits</a:t>
            </a:r>
          </a:p>
        </p:txBody>
      </p:sp>
      <p:sp>
        <p:nvSpPr>
          <p:cNvPr id="2" name="06  PortalPulse">
            <a:extLst xmlns:a="http://schemas.openxmlformats.org/drawingml/2006/main">
              <a:ext uri="{FF2B5EF4-FFF2-40B4-BE49-F238E27FC236}">
                <a16:creationId xmlns:a16="http://schemas.microsoft.com/office/drawing/2014/main" id="{46E2A4EB-0788-4EDC-BB79-6EED7517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06  PortalPulse</a:t>
            </a:r>
          </a:p>
        </p:txBody>
      </p:sp>
      <p:sp>
        <p:nvSpPr>
          <p:cNvPr id="3" name="Available now">
            <a:extLst xmlns:a="http://schemas.openxmlformats.org/drawingml/2006/main">
              <a:ext uri="{FF2B5EF4-FFF2-40B4-BE49-F238E27FC236}">
                <a16:creationId xmlns:a16="http://schemas.microsoft.com/office/drawing/2014/main" id="{AE988AAE-4D30-498F-899D-0FD93017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Available now</a:t>
            </a:r>
          </a:p>
        </p:txBody>
      </p:sp>
      <p:sp>
        <p:nvSpPr>
          <p:cNvPr id="4" name="Public console and source&#10;Local CLI and portable JSON&#10;S">
            <a:extLst xmlns:a="http://schemas.openxmlformats.org/drawingml/2006/main">
              <a:ext uri="{FF2B5EF4-FFF2-40B4-BE49-F238E27FC236}">
                <a16:creationId xmlns:a16="http://schemas.microsoft.com/office/drawing/2014/main" id="{BA75C715-431F-420D-940B-62275AD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095875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Public console and source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Local CLI and portable JSON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Six-stage offline correlation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Strict report integrity checks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Print and pagination accepted</a:t>
            </a:r>
          </a:p>
        </p:txBody>
      </p:sp>
      <p:sp>
        <p:nvSpPr>
          <p:cNvPr id="5" name="V3 work still pending">
            <a:extLst xmlns:a="http://schemas.openxmlformats.org/drawingml/2006/main">
              <a:ext uri="{FF2B5EF4-FFF2-40B4-BE49-F238E27FC236}">
                <a16:creationId xmlns:a16="http://schemas.microsoft.com/office/drawing/2014/main" id="{BB7F8C8D-FA50-45C5-8684-C94BD1D7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V3 work still pending</a:t>
            </a:r>
          </a:p>
        </p:txBody>
      </p:sp>
      <p:sp>
        <p:nvSpPr>
          <p:cNvPr id="6" name="Recognized network and runtime&#10;Mapped, funded deployer&#10;">
            <a:extLst xmlns:a="http://schemas.openxmlformats.org/drawingml/2006/main">
              <a:ext uri="{FF2B5EF4-FFF2-40B4-BE49-F238E27FC236}">
                <a16:creationId xmlns:a16="http://schemas.microsoft.com/office/drawing/2014/main" id="{CA046E7F-3081-4CEA-BE0C-70993961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510540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Recognized network and runtime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Mapped, funded deployer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Probe address and deployment transaction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Live finality and anchored state readback</a:t>
            </a:r>
          </a:p>
        </p:txBody>
      </p:sp>
      <p:sp>
        <p:nvSpPr>
          <p:cNvPr id="7" name="Synthetic / offline     verifiedNetwork = false     wri">
            <a:extLst xmlns:a="http://schemas.openxmlformats.org/drawingml/2006/main">
              <a:ext uri="{FF2B5EF4-FFF2-40B4-BE49-F238E27FC236}">
                <a16:creationId xmlns:a16="http://schemas.microsoft.com/office/drawing/2014/main" id="{597E0EC3-AE3E-4D12-BDEF-64BDCF24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Synthetic / offline     verifiedNetwork = false     writeAllowed = false</a:t>
            </a:r>
          </a:p>
          <a:p xmlns:a="http://schemas.openxmlformats.org/drawingml/2006/main">
            <a: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fullVerification = false. A digest checks content integrity only.</a:t>
            </a:r>
          </a:p>
        </p:txBody>
      </p:sp>
    </p:spTree>
    <p:extLst>
      <p:ext uri="{BB962C8B-B14F-4D97-AF65-F5344CB8AC3E}">
        <p14:creationId xmlns:p14="http://schemas.microsoft.com/office/powerpoint/2010/main" val="1737474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ortaldot integration and delivery dates">
            <a:extLst xmlns:a="http://schemas.openxmlformats.org/drawingml/2006/main">
              <a:ext uri="{FF2B5EF4-FFF2-40B4-BE49-F238E27FC236}">
                <a16:creationId xmlns:a16="http://schemas.microsoft.com/office/drawing/2014/main" id="{B7EF5D85-0E5B-459B-8A60-2FE0B68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Portaldot integration and delivery dates</a:t>
            </a:r>
          </a:p>
        </p:txBody>
      </p:sp>
      <p:sp>
        <p:nvSpPr>
          <p:cNvPr id="2" name="07  PortalPulse">
            <a:extLst xmlns:a="http://schemas.openxmlformats.org/drawingml/2006/main">
              <a:ext uri="{FF2B5EF4-FFF2-40B4-BE49-F238E27FC236}">
                <a16:creationId xmlns:a16="http://schemas.microsoft.com/office/drawing/2014/main" id="{014B2B89-B879-4E36-9262-CFC3F5F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07  PortalPulse</a:t>
            </a:r>
          </a:p>
        </p:txBody>
      </p:sp>
      <p:sp>
        <p:nvSpPr>
          <p:cNvPr id="3" name="Integration gate">
            <a:extLst xmlns:a="http://schemas.openxmlformats.org/drawingml/2006/main">
              <a:ext uri="{FF2B5EF4-FFF2-40B4-BE49-F238E27FC236}">
                <a16:creationId xmlns:a16="http://schemas.microsoft.com/office/drawing/2014/main" id="{B9DE63F7-472F-4406-97FC-7602CC8A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47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Integration gate</a:t>
            </a:r>
          </a:p>
        </p:txBody>
      </p:sp>
      <p:sp>
        <p:nvSpPr>
          <p:cNvPr id="4" name="Current organizer configuration&#10;Observed genesis and ru">
            <a:extLst xmlns:a="http://schemas.openxmlformats.org/drawingml/2006/main">
              <a:ext uri="{FF2B5EF4-FFF2-40B4-BE49-F238E27FC236}">
                <a16:creationId xmlns:a16="http://schemas.microsoft.com/office/drawing/2014/main" id="{CA91F920-5F72-4B26-A3E4-3D859CCD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49434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Current organizer configuration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Observed genesis and runtime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Caller mapping and test funds</a:t>
            </a:r>
          </a:p>
          <a:p xmlns:a="http://schemas.openxmlformats.org/drawingml/2006/main">
            <a:pPr>
              <a:defRPr sz="20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Then wallet-confirmed probe deployment</a:t>
            </a:r>
          </a:p>
        </p:txBody>
      </p:sp>
      <p:sp>
        <p:nvSpPr>
          <p:cNvPr id="5" name="Solidity / Revive is a candidate.&#10;Runtime compatibility">
            <a:extLst xmlns:a="http://schemas.openxmlformats.org/drawingml/2006/main">
              <a:ext uri="{FF2B5EF4-FFF2-40B4-BE49-F238E27FC236}">
                <a16:creationId xmlns:a16="http://schemas.microsoft.com/office/drawing/2014/main" id="{269ABC67-A973-4DC0-9486-62C788E9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Solidity / Revive is a candidate.</a:t>
            </a:r>
          </a:p>
          <a:p xmlns:a="http://schemas.openxmlformats.org/drawingml/2006/main">
            <a: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Runtime compatibility requires verification.</a:t>
            </a:r>
          </a:p>
        </p:txBody>
      </p:sp>
      <p:sp>
        <p:nvSpPr>
          <p:cNvPr id="6" name="Delivery plan">
            <a:extLst xmlns:a="http://schemas.openxmlformats.org/drawingml/2006/main">
              <a:ext uri="{FF2B5EF4-FFF2-40B4-BE49-F238E27FC236}">
                <a16:creationId xmlns:a16="http://schemas.microsoft.com/office/drawing/2014/main" id="{FEB7C2D1-4FAA-47EE-8099-621DA140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85925"/>
            <a:ext cx="5105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Delivery plan</a:t>
            </a:r>
          </a:p>
        </p:txBody>
      </p:sp>
      <p:sp>
        <p:nvSpPr>
          <p:cNvPr id="7" name="Oct 23, 20:00  Internal Check-in target&#10;Oct 24, 20:00  ">
            <a:extLst xmlns:a="http://schemas.openxmlformats.org/drawingml/2006/main">
              <a:ext uri="{FF2B5EF4-FFF2-40B4-BE49-F238E27FC236}">
                <a16:creationId xmlns:a16="http://schemas.microsoft.com/office/drawing/2014/main" id="{31EFB1CF-3C72-4FCF-B57F-18B85EEF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51054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Oct 23, 20:00  Internal Check-in target</a:t>
            </a:r>
          </a:p>
          <a:p xmlns:a="http://schemas.openxmlformats.org/drawingml/2006/main">
            <a: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Oct 24, 20:00  Official Check-in deadline</a:t>
            </a:r>
          </a:p>
          <a:p xmlns:a="http://schemas.openxmlformats.org/drawingml/2006/main">
            <a: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Nov 4                 Core version target</a:t>
            </a:r>
          </a:p>
          <a:p xmlns:a="http://schemas.openxmlformats.org/drawingml/2006/main">
            <a:pPr>
              <a:defRPr sz="187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Nov 6, 12:00    Final submission target</a:t>
            </a:r>
          </a:p>
        </p:txBody>
      </p:sp>
      <p:sp>
        <p:nvSpPr>
          <p:cNvPr id="8" name="All times: Asia/Shanghai&#10;Submission requires platform r">
            <a:extLst xmlns:a="http://schemas.openxmlformats.org/drawingml/2006/main">
              <a:ext uri="{FF2B5EF4-FFF2-40B4-BE49-F238E27FC236}">
                <a16:creationId xmlns:a16="http://schemas.microsoft.com/office/drawing/2014/main" id="{F680E752-BF10-402B-8335-C4DAB44B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81575"/>
            <a:ext cx="5105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All times: Asia/Shanghai</a:t>
            </a:r>
          </a:p>
          <a:p xmlns:a="http://schemas.openxmlformats.org/drawingml/2006/main">
            <a:pPr>
              <a:defRPr sz="1875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Submission requires platform readback.</a:t>
            </a:r>
          </a:p>
        </p:txBody>
      </p:sp>
    </p:spTree>
    <p:extLst>
      <p:ext uri="{BB962C8B-B14F-4D97-AF65-F5344CB8AC3E}">
        <p14:creationId xmlns:p14="http://schemas.microsoft.com/office/powerpoint/2010/main" val="494431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roduct potential after testnet validation">
            <a:extLst xmlns:a="http://schemas.openxmlformats.org/drawingml/2006/main">
              <a:ext uri="{FF2B5EF4-FFF2-40B4-BE49-F238E27FC236}">
                <a16:creationId xmlns:a16="http://schemas.microsoft.com/office/drawing/2014/main" id="{8C703AF1-4F8B-4B32-B095-BC18EA95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Product potential after testnet validation</a:t>
            </a:r>
          </a:p>
        </p:txBody>
      </p:sp>
      <p:sp>
        <p:nvSpPr>
          <p:cNvPr id="2" name="08  PortalPulse">
            <a:extLst xmlns:a="http://schemas.openxmlformats.org/drawingml/2006/main">
              <a:ext uri="{FF2B5EF4-FFF2-40B4-BE49-F238E27FC236}">
                <a16:creationId xmlns:a16="http://schemas.microsoft.com/office/drawing/2014/main" id="{F2DBAEB3-1FA9-45F0-BE79-85F3AF0A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08  PortalPulse</a:t>
            </a:r>
          </a:p>
        </p:txBody>
      </p:sp>
      <p:sp>
        <p:nvSpPr>
          <p:cNvPr id="3" name="Hypothesis">
            <a:extLst xmlns:a="http://schemas.openxmlformats.org/drawingml/2006/main">
              <a:ext uri="{FF2B5EF4-FFF2-40B4-BE49-F238E27FC236}">
                <a16:creationId xmlns:a16="http://schemas.microsoft.com/office/drawing/2014/main" id="{ACF9CBCA-17AA-4455-94EE-253B0C8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4" name="Teams may pay for hosted monitoring,&#10;longer history and">
            <a:extLst xmlns:a="http://schemas.openxmlformats.org/drawingml/2006/main">
              <a:ext uri="{FF2B5EF4-FFF2-40B4-BE49-F238E27FC236}">
                <a16:creationId xmlns:a16="http://schemas.microsoft.com/office/drawing/2014/main" id="{3A4D5889-02E2-417B-95D7-60583068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Teams may pay for hosted monitoring,</a:t>
            </a:r>
          </a:p>
          <a:p xmlns:a="http://schemas.openxmlformats.org/drawingml/2006/main">
            <a:pPr>
              <a:defRPr sz="2925" b="1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252D"/>
                </a:solidFill>
                <a:latin typeface="Arial"/>
                <a:ea typeface="Arial"/>
                <a:cs typeface="Arial"/>
              </a:rPr>
              <a:t>longer history and shared operating reports.</a:t>
            </a:r>
          </a:p>
        </p:txBody>
      </p:sp>
      <p:sp>
        <p:nvSpPr>
          <p:cNvPr id="5" name="Validate repeat usage with node operators and DApp team">
            <a:extLst xmlns:a="http://schemas.openxmlformats.org/drawingml/2006/main">
              <a:ext uri="{FF2B5EF4-FFF2-40B4-BE49-F238E27FC236}">
                <a16:creationId xmlns:a16="http://schemas.microsoft.com/office/drawing/2014/main" id="{76296E78-72A1-461A-B22D-20F7FB41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Validate repeat usage with node operators and DApp teams.</a:t>
            </a:r>
          </a:p>
          <a:p xmlns:a="http://schemas.openxmlformats.org/drawingml/2006/main">
            <a:pPr>
              <a:defRPr sz="1950" b="0">
                <a:solidFill>
                  <a:srgbClr val="5262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26C"/>
                </a:solidFill>
                <a:latin typeface="Arial"/>
                <a:ea typeface="Arial"/>
                <a:cs typeface="Arial"/>
              </a:rPr>
              <a:t>No customer, revenue or pricing claim at this stage.</a:t>
            </a:r>
          </a:p>
        </p:txBody>
      </p:sp>
      <p:sp>
        <p:nvSpPr>
          <p:cNvPr id="6" name="Public prototype">
            <a:extLst xmlns:a="http://schemas.openxmlformats.org/drawingml/2006/main">
              <a:ext uri="{FF2B5EF4-FFF2-40B4-BE49-F238E27FC236}">
                <a16:creationId xmlns:a16="http://schemas.microsoft.com/office/drawing/2014/main" id="{5EF8F78F-C031-4399-AB6B-A3AE2F0C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Public prototype</a:t>
            </a:r>
          </a:p>
        </p:txBody>
      </p:sp>
      <p:sp>
        <p:nvSpPr>
          <p:cNvPr id="7" name="portalpulse-jokerfufu-2026-readonly.jokerfu.chatgpt.sit">
            <a:extLst xmlns:a="http://schemas.openxmlformats.org/drawingml/2006/main">
              <a:ext uri="{FF2B5EF4-FFF2-40B4-BE49-F238E27FC236}">
                <a16:creationId xmlns:a16="http://schemas.microsoft.com/office/drawing/2014/main" id="{F6547ED3-544A-492D-8049-9FF82751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483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portalpulse-jokerfufu-2026-readonly.jokerfu.chatgpt.site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7E57BA34-21A9-4D1A-BE44-92DBAC86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64EA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4EAC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github.com/JokerFuFu/portaldot-hacker-house-2026-portal">
            <a:extLst xmlns:a="http://schemas.openxmlformats.org/drawingml/2006/main">
              <a:ext uri="{FF2B5EF4-FFF2-40B4-BE49-F238E27FC236}">
                <a16:creationId xmlns:a16="http://schemas.microsoft.com/office/drawing/2014/main" id="{EA713CF1-AB43-466F-92AF-DA6B0CB4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1502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52D"/>
                </a:solidFill>
                <a:latin typeface="Arial"/>
                <a:ea typeface="Arial"/>
                <a:cs typeface="Arial"/>
              </a:rPr>
              <a:t>github.com/JokerFuFu/portaldot-hacker-house-2026-portalpulse</a:t>
            </a:r>
          </a:p>
        </p:txBody>
      </p:sp>
    </p:spTree>
    <p:extLst>
      <p:ext uri="{BB962C8B-B14F-4D97-AF65-F5344CB8AC3E}">
        <p14:creationId xmlns:p14="http://schemas.microsoft.com/office/powerpoint/2010/main" val="1428102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2026-10-16T09:59:46.7160000Z</dcterms:created>
  <dcterms:modified xsi:type="dcterms:W3CDTF">2026-10-16T09:59:46.7160000Z</dcterms:modified>
</coreProperties>
</file>